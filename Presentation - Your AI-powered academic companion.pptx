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aleway" charset="1" panose="00000000000000000000"/>
      <p:regular r:id="rId13"/>
    </p:embeddedFont>
    <p:embeddedFont>
      <p:font typeface="Raleway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700" y="666750"/>
            <a:ext cx="10684005" cy="8953500"/>
            <a:chOff x="0" y="0"/>
            <a:chExt cx="1540513" cy="12909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40513" cy="1290994"/>
            </a:xfrm>
            <a:custGeom>
              <a:avLst/>
              <a:gdLst/>
              <a:ahLst/>
              <a:cxnLst/>
              <a:rect r="r" b="b" t="t" l="l"/>
              <a:pathLst>
                <a:path h="1290994" w="1540513">
                  <a:moveTo>
                    <a:pt x="0" y="0"/>
                  </a:moveTo>
                  <a:lnTo>
                    <a:pt x="1540513" y="0"/>
                  </a:lnTo>
                  <a:lnTo>
                    <a:pt x="1540513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-39628" t="0" r="-39628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551400" y="2578870"/>
            <a:ext cx="4317032" cy="350502"/>
            <a:chOff x="0" y="0"/>
            <a:chExt cx="5756043" cy="467336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752135" y="84001"/>
              <a:ext cx="5003907" cy="3833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162"/>
                </a:lnSpc>
              </a:pPr>
              <a:r>
                <a:rPr lang="en-US" sz="1966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Collegiate Inbox Navigator</a:t>
              </a:r>
            </a:p>
          </p:txBody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67336" cy="467336"/>
            </a:xfrm>
            <a:custGeom>
              <a:avLst/>
              <a:gdLst/>
              <a:ahLst/>
              <a:cxnLst/>
              <a:rect r="r" b="b" t="t" l="l"/>
              <a:pathLst>
                <a:path h="467336" w="467336">
                  <a:moveTo>
                    <a:pt x="0" y="0"/>
                  </a:moveTo>
                  <a:lnTo>
                    <a:pt x="467336" y="0"/>
                  </a:lnTo>
                  <a:lnTo>
                    <a:pt x="467336" y="467336"/>
                  </a:lnTo>
                  <a:lnTo>
                    <a:pt x="0" y="4673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551400" y="3283008"/>
            <a:ext cx="6546986" cy="4958962"/>
            <a:chOff x="0" y="0"/>
            <a:chExt cx="8729314" cy="661194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52400"/>
              <a:ext cx="8729314" cy="5888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493"/>
                </a:lnSpc>
              </a:pPr>
              <a:r>
                <a:rPr lang="en-US" sz="8493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Your AI-powered academic companion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6075386"/>
              <a:ext cx="8729314" cy="5365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3"/>
                </a:lnSpc>
              </a:pPr>
              <a:r>
                <a:rPr lang="en-US" sz="2359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Presented by Kon'nichiwa sekai🎓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1551400" y="9335415"/>
            <a:ext cx="5415870" cy="284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2"/>
              </a:lnSpc>
            </a:pPr>
            <a:r>
              <a:rPr lang="en-US" sz="1572">
                <a:solidFill>
                  <a:srgbClr val="E8F0FE"/>
                </a:solidFill>
                <a:latin typeface="Raleway"/>
                <a:ea typeface="Raleway"/>
                <a:cs typeface="Raleway"/>
                <a:sym typeface="Raleway"/>
              </a:rPr>
              <a:t>November 8, 2025, Hackathon Challenge 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0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4785" y="666750"/>
            <a:ext cx="11203365" cy="2001470"/>
            <a:chOff x="0" y="0"/>
            <a:chExt cx="14937820" cy="266862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76200"/>
              <a:ext cx="14937820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951B8"/>
                  </a:solidFill>
                  <a:latin typeface="Raleway"/>
                  <a:ea typeface="Raleway"/>
                  <a:cs typeface="Raleway"/>
                  <a:sym typeface="Raleway"/>
                </a:rPr>
                <a:t>Problem Statement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92351"/>
              <a:ext cx="1493782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1951B8"/>
                  </a:solidFill>
                  <a:latin typeface="Raleway"/>
                  <a:ea typeface="Raleway"/>
                  <a:cs typeface="Raleway"/>
                  <a:sym typeface="Raleway"/>
                </a:rPr>
                <a:t>Understanding the challenges students face today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71512" y="6886575"/>
            <a:ext cx="259026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Missing important deadlines and announcements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94990" y="6886575"/>
            <a:ext cx="2617503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Fragmented academic data across multiple platforms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296400" y="6886575"/>
            <a:ext cx="2571750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Lack of a centralized academic communication tool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11225" y="6886575"/>
            <a:ext cx="2571750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</a:pPr>
            <a:r>
              <a:rPr lang="en-US" sz="2199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Information overload and disorganization in academics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88928" y="9402749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0F2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62404" y="5469939"/>
            <a:ext cx="1137821" cy="568911"/>
          </a:xfrm>
          <a:custGeom>
            <a:avLst/>
            <a:gdLst/>
            <a:ahLst/>
            <a:cxnLst/>
            <a:rect r="r" b="b" t="t" l="l"/>
            <a:pathLst>
              <a:path h="568911" w="1137821">
                <a:moveTo>
                  <a:pt x="0" y="0"/>
                </a:moveTo>
                <a:lnTo>
                  <a:pt x="1137821" y="0"/>
                </a:lnTo>
                <a:lnTo>
                  <a:pt x="1137821" y="568911"/>
                </a:lnTo>
                <a:lnTo>
                  <a:pt x="0" y="568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4994990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13611225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296400" y="5478820"/>
            <a:ext cx="1120060" cy="560030"/>
          </a:xfrm>
          <a:custGeom>
            <a:avLst/>
            <a:gdLst/>
            <a:ahLst/>
            <a:cxnLst/>
            <a:rect r="r" b="b" t="t" l="l"/>
            <a:pathLst>
              <a:path h="560030" w="1120060">
                <a:moveTo>
                  <a:pt x="0" y="0"/>
                </a:moveTo>
                <a:lnTo>
                  <a:pt x="1120060" y="0"/>
                </a:lnTo>
                <a:lnTo>
                  <a:pt x="1120060" y="560030"/>
                </a:lnTo>
                <a:lnTo>
                  <a:pt x="0" y="5600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E8F0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24383"/>
            <a:chOff x="0" y="0"/>
            <a:chExt cx="17611255" cy="296584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Solution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4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0"/>
                </a:lnSpc>
              </a:pPr>
              <a:r>
                <a:rPr lang="en-US" sz="285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A Unified AI-Driven Dashboard for Students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243993"/>
            <a:chOff x="0" y="0"/>
            <a:chExt cx="5340350" cy="4325324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22680"/>
              <a:ext cx="5340350" cy="3202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2"/>
                </a:lnSpc>
              </a:pPr>
              <a:r>
                <a:rPr lang="en-US" sz="2117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The Collegiate Inbox Navigator consolidates various platforms like Gmail, Google Classroom, Google Drive, and Calendar, ensuring students can access all academic communications in one streamlined location.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4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0"/>
                </a:lnSpc>
              </a:pPr>
              <a:r>
                <a:rPr lang="en-US" b="true" sz="285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Centralized Integration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586893"/>
            <a:chOff x="0" y="0"/>
            <a:chExt cx="5346700" cy="4782524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22680"/>
              <a:ext cx="5346700" cy="36598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2"/>
                </a:lnSpc>
              </a:pPr>
              <a:r>
                <a:rPr lang="en-US" sz="2117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Powered by Gemini AI, the dashboard summarizes emails and extracts actionable tasks, helping students prioritize their responsibilities and stay organized without feeling overwhelmed by information overload.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64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0"/>
                </a:lnSpc>
              </a:pPr>
              <a:r>
                <a:rPr lang="en-US" b="true" sz="285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AI Task Management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2901093"/>
            <a:chOff x="0" y="0"/>
            <a:chExt cx="5327111" cy="3868124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22680"/>
              <a:ext cx="5327111" cy="27454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2"/>
                </a:lnSpc>
              </a:pPr>
              <a:r>
                <a:rPr lang="en-US" sz="2117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This system automatically syncs events and sends timely alerts for upcoming deadlines, ensuring that students remain informed of important dates and changes to their schedules.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643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90"/>
                </a:lnSpc>
              </a:pPr>
              <a:r>
                <a:rPr lang="en-US" b="true" sz="285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Automated Alerts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31324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695"/>
              </a:lnSpc>
              <a:spcBef>
                <a:spcPct val="0"/>
              </a:spcBef>
            </a:pPr>
            <a:r>
              <a:rPr lang="en-US" sz="1925">
                <a:solidFill>
                  <a:srgbClr val="E8F0FE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0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0F2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49148"/>
            <a:chOff x="0" y="0"/>
            <a:chExt cx="17611255" cy="2998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951B8"/>
                  </a:solidFill>
                  <a:latin typeface="Raleway"/>
                  <a:ea typeface="Raleway"/>
                  <a:cs typeface="Raleway"/>
                  <a:sym typeface="Raleway"/>
                </a:rPr>
                <a:t>Tech Stack Overview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1951B8"/>
                  </a:solidFill>
                  <a:latin typeface="Raleway"/>
                  <a:ea typeface="Raleway"/>
                  <a:cs typeface="Raleway"/>
                  <a:sym typeface="Raleway"/>
                </a:rPr>
                <a:t>Key Technologies and System Design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039110"/>
            <a:chOff x="0" y="0"/>
            <a:chExt cx="5340350" cy="40521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5340350" cy="28869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The frontend is built using </a:t>
              </a:r>
              <a:r>
                <a:rPr lang="en-US" b="true" sz="220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Next.js 16</a:t>
              </a: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 and </a:t>
              </a:r>
              <a:r>
                <a:rPr lang="en-US" b="true" sz="220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React 19</a:t>
              </a: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, leveraging MUI v7 for a modern and responsive user interface that enhances user experience across devices.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1951B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Frontend Framework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934460"/>
            <a:chOff x="0" y="0"/>
            <a:chExt cx="5346700" cy="52459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876425"/>
              <a:ext cx="5346700" cy="3369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Our backend system relies on </a:t>
              </a:r>
              <a:r>
                <a:rPr lang="en-US" b="true" sz="220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Firebase Authentication</a:t>
              </a: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 for secure user management and </a:t>
              </a:r>
              <a:r>
                <a:rPr lang="en-US" b="true" sz="220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Firestore database</a:t>
              </a: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 for efficient data storage, ensuring reliable access to user-generated academic data.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1951B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Backend Infrastructure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4124960"/>
            <a:chOff x="0" y="0"/>
            <a:chExt cx="5327111" cy="54999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5327111" cy="43347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60"/>
                </a:lnSpc>
              </a:pP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Composio v3 enables seamless integrations with Gmail, Drive, and Calendar</a:t>
              </a:r>
            </a:p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The AI layer employs </a:t>
              </a:r>
              <a:r>
                <a:rPr lang="en-US" b="true" sz="220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Gemini 2.0 Flash</a:t>
              </a: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 with an </a:t>
              </a:r>
              <a:r>
                <a:rPr lang="en-US" b="true" sz="220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Agentic RAG pipeline</a:t>
              </a:r>
              <a:r>
                <a:rPr lang="en-US" sz="220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 to enable smart data processing and task extraction, enhancing academic workflow and productivity for users.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1951B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AI Integration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E8F0FE"/>
                </a:solidFill>
                <a:latin typeface="Raleway"/>
                <a:ea typeface="Raleway"/>
                <a:cs typeface="Raleway"/>
                <a:sym typeface="Raleway"/>
              </a:rPr>
              <a:t>Core Features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59161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Deadlines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Countdown timers ensure students never miss important deadlines.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19850" y="4259161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Document Repository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Auto-organized academic documents for easy, efficient access.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3857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0FE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DFE7F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6728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Semantic Search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Planned feature will enhance search capabilities for documents.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19850" y="6935686"/>
            <a:ext cx="5448300" cy="1488687"/>
            <a:chOff x="0" y="0"/>
            <a:chExt cx="7264400" cy="19849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AI Summaries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AI-generated summaries will simplify lengthy emails for users.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173280" y="4259161"/>
            <a:ext cx="5447970" cy="1488687"/>
            <a:chOff x="0" y="0"/>
            <a:chExt cx="7263960" cy="1984916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19050"/>
              <a:ext cx="726396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Alerts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70398"/>
              <a:ext cx="726396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Real-time alerts notify users of reschedules and cancellations.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172950" y="6935686"/>
            <a:ext cx="5448300" cy="1488687"/>
            <a:chOff x="0" y="0"/>
            <a:chExt cx="7264400" cy="1984916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Centralize place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Integrated 4 google service connected by agent tools.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F0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0F2347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15811"/>
            <a:chOff x="0" y="0"/>
            <a:chExt cx="17611255" cy="295441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1951B8"/>
                  </a:solidFill>
                  <a:latin typeface="Raleway"/>
                  <a:ea typeface="Raleway"/>
                  <a:cs typeface="Raleway"/>
                  <a:sym typeface="Raleway"/>
                </a:rPr>
                <a:t>Results &amp; Status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7"/>
                </a:lnSpc>
              </a:pPr>
              <a:r>
                <a:rPr lang="en-US" sz="2812">
                  <a:solidFill>
                    <a:srgbClr val="1951B8"/>
                  </a:solidFill>
                  <a:latin typeface="Raleway"/>
                  <a:ea typeface="Raleway"/>
                  <a:cs typeface="Raleway"/>
                  <a:sym typeface="Raleway"/>
                </a:rPr>
                <a:t>Current Achievements and Challenges Ahead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235769"/>
            <a:chOff x="0" y="0"/>
            <a:chExt cx="5340350" cy="4314359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11250"/>
              <a:ext cx="5340350" cy="3203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17"/>
                </a:lnSpc>
              </a:pPr>
              <a:r>
                <a:rPr lang="en-US" sz="209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Our Gmail and Calendar integrations are fully operational, enabling students to receive timely notifications and manage their academic schedules effectively, improving overall productivity and organization.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7"/>
                </a:lnSpc>
              </a:pPr>
              <a:r>
                <a:rPr lang="en-US" b="true" sz="2812">
                  <a:solidFill>
                    <a:srgbClr val="1951B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Integrations Functional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235769"/>
            <a:chOff x="0" y="0"/>
            <a:chExt cx="5346700" cy="4314359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11250"/>
              <a:ext cx="5346700" cy="3203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17"/>
                </a:lnSpc>
              </a:pPr>
              <a:r>
                <a:rPr lang="en-US" sz="2090">
                  <a:solidFill>
                    <a:srgbClr val="0F2347"/>
                  </a:solidFill>
                  <a:latin typeface="Raleway"/>
                  <a:ea typeface="Raleway"/>
                  <a:cs typeface="Raleway"/>
                  <a:sym typeface="Raleway"/>
                </a:rPr>
                <a:t>The Firestore database is successfully caching data and conducting AI analysis, ensuring that students have access to summarized and actionable insights tailored to their academic needs.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7"/>
                </a:lnSpc>
              </a:pPr>
              <a:r>
                <a:rPr lang="en-US" b="true" sz="2812">
                  <a:solidFill>
                    <a:srgbClr val="1951B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AI Analysis Operational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3235769"/>
            <a:chOff x="0" y="0"/>
            <a:chExt cx="5327111" cy="4314359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11250"/>
              <a:ext cx="5327111" cy="3203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17"/>
                </a:lnSpc>
              </a:pPr>
              <a:r>
                <a:rPr lang="en-US" b="true" sz="2090">
                  <a:solidFill>
                    <a:srgbClr val="0F23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Currently, the Google Classroom API is non-functional, which has led us to rely on a Gmail-based RAG pipeline. We feel this problem statment cant be solved bec of google internal changes.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631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37"/>
                </a:lnSpc>
              </a:pPr>
              <a:r>
                <a:rPr lang="en-US" b="true" sz="2812">
                  <a:solidFill>
                    <a:srgbClr val="1951B8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Classroom API Issues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2179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F2347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23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E8F0F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49148"/>
            <a:chOff x="0" y="0"/>
            <a:chExt cx="17611255" cy="2998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Future Work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Vision for Project Growth and Impact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687159"/>
            <a:chOff x="0" y="0"/>
            <a:chExt cx="5340350" cy="4916212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5340350" cy="37509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4"/>
                </a:lnSpc>
              </a:pPr>
              <a:r>
                <a:rPr lang="en-US" sz="2172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Integrating a </a:t>
              </a:r>
              <a:r>
                <a:rPr lang="en-US" b="true" sz="2172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Modular Composable Platform (MCP)</a:t>
              </a:r>
              <a:r>
                <a:rPr lang="en-US" sz="2172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 will enhance flexibility, allowing users to customize their experience by adding or removing features as needed for effective academic management.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Modular Platform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334734"/>
            <a:chOff x="0" y="0"/>
            <a:chExt cx="5346700" cy="444631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5346700" cy="3281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4"/>
                </a:lnSpc>
              </a:pPr>
              <a:r>
                <a:rPr lang="en-US" sz="2172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Implementing full </a:t>
              </a:r>
              <a:r>
                <a:rPr lang="en-US" b="true" sz="2172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semantic search capabilities</a:t>
              </a:r>
              <a:r>
                <a:rPr lang="en-US" sz="2172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 will enable students to efficiently find and retrieve critical information across emails and documents, streamlining their academic workflow significantly.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Semantic Search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3868134"/>
            <a:chOff x="0" y="0"/>
            <a:chExt cx="5327111" cy="515751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876425"/>
              <a:ext cx="5327111" cy="32810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24"/>
                </a:lnSpc>
              </a:pPr>
              <a:r>
                <a:rPr lang="en-US" sz="2172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Developing </a:t>
              </a:r>
              <a:r>
                <a:rPr lang="en-US" b="true" sz="2172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smart contextual reminders</a:t>
              </a:r>
              <a:r>
                <a:rPr lang="en-US" sz="2172">
                  <a:solidFill>
                    <a:srgbClr val="E8F0FE"/>
                  </a:solidFill>
                  <a:latin typeface="Raleway"/>
                  <a:ea typeface="Raleway"/>
                  <a:cs typeface="Raleway"/>
                  <a:sym typeface="Raleway"/>
                </a:rPr>
                <a:t> will proactively assist students by predicting workload and deadlines, ensuring they stay organized and on track to meet their academic goals.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E8F0FE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Contextual Reminders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21799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 marL="0" indent="0" lvl="0">
              <a:lnSpc>
                <a:spcPts val="2765"/>
              </a:lnSpc>
              <a:spcBef>
                <a:spcPct val="0"/>
              </a:spcBef>
            </a:pPr>
            <a:r>
              <a:rPr lang="en-US" sz="1975">
                <a:solidFill>
                  <a:srgbClr val="E8F0FE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Your AI-powered academic companion</dc:description>
  <dc:identifier>DAG4FTB9oIU</dc:identifier>
  <dcterms:modified xsi:type="dcterms:W3CDTF">2011-08-01T06:04:30Z</dcterms:modified>
  <cp:revision>1</cp:revision>
  <dc:title>Presentation - Your AI-powered academic companion</dc:title>
</cp:coreProperties>
</file>